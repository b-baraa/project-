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731520"/>
            <a:ext cx="1005840" cy="274320"/>
          </a:xfrm>
          <a:prstGeom prst="line">
            <a:avLst/>
          </a:prstGeom>
          <a:noFill/>
          <a:ln w="15875">
            <a:solidFill>
              <a:srgbClr val="0F6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731520"/>
            <a:ext cx="731520" cy="640080"/>
          </a:xfrm>
          <a:prstGeom prst="line">
            <a:avLst/>
          </a:prstGeom>
          <a:noFill/>
          <a:ln w="15875">
            <a:solidFill>
              <a:srgbClr val="0F6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1371600"/>
            <a:ext cx="1097280" cy="365760"/>
          </a:xfrm>
          <a:prstGeom prst="line">
            <a:avLst/>
          </a:prstGeom>
          <a:noFill/>
          <a:ln w="15875">
            <a:solidFill>
              <a:srgbClr val="0F6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92640" y="1005840"/>
            <a:ext cx="640080" cy="731520"/>
          </a:xfrm>
          <a:prstGeom prst="line">
            <a:avLst/>
          </a:prstGeom>
          <a:noFill/>
          <a:ln w="15875">
            <a:solidFill>
              <a:srgbClr val="0F6C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1005840"/>
            <a:ext cx="274320" cy="1097280"/>
          </a:xfrm>
          <a:prstGeom prst="line">
            <a:avLst/>
          </a:prstGeom>
          <a:noFill/>
          <a:ln w="15875">
            <a:solidFill>
              <a:srgbClr val="0F6C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1737360"/>
            <a:ext cx="914400" cy="365760"/>
          </a:xfrm>
          <a:prstGeom prst="line">
            <a:avLst/>
          </a:prstGeom>
          <a:noFill/>
          <a:ln w="15875">
            <a:solidFill>
              <a:srgbClr val="0F6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9" name="Shape 7"/>
          <p:cNvSpPr/>
          <p:nvPr/>
        </p:nvSpPr>
        <p:spPr>
          <a:xfrm>
            <a:off x="10616184" y="649224"/>
            <a:ext cx="164592" cy="164592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47704" y="1289304"/>
            <a:ext cx="164592" cy="164592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1" name="Shape 9"/>
          <p:cNvSpPr/>
          <p:nvPr/>
        </p:nvSpPr>
        <p:spPr>
          <a:xfrm>
            <a:off x="10250424" y="1655064"/>
            <a:ext cx="164592" cy="164592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36024" y="2020824"/>
            <a:ext cx="164592" cy="164592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RÉPARTIS POUR LE BIG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— Analyse distribuée de ventes retail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Hadoop / HDFS (simulé) et PySpark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749808" y="3977640"/>
            <a:ext cx="1280160" cy="54864"/>
          </a:xfrm>
          <a:prstGeom prst="rect">
            <a:avLst/>
          </a:prstGeom>
          <a:solidFill>
            <a:srgbClr val="FF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retail_sales_2024.csv — 8 000 enregistrements, 11 attributs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étudié :  Dataset CSV  →  HDFS (stockage distribué)  →  Spark / PySpark  →  Résultats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Appliquer, sur un jeu de données réel, les notions du cours consacrées aux systèmes distribués et aux architectures Big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6243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cluster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 cluster Big Data : nœud maître, nœuds workers, réseau.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242316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6974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26243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Stockage distribué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HDFS : découpage en blocs, partitionnement, réplication, cohérence.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445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distribué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Apache Spark / PySpark pour analyser les données en parallèle.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3434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46177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5445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exploitables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51206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les résultats (CSV / Parquet) et les visualiser.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jeu de données : retail_sales_2024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de produits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14173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508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03920" y="20756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(Tunisie)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 de commande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de la commande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 de produit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Région du 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channel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(en ligne / magasin)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payment_method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 de paiement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78892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Quantité achetée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unit_price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unitaire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customer_age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du 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rating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de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2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total_amount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global 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flux que celui présenté en cours (diagramme d'architecture cluster Big Data).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0B4F6C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9052" y="2395728"/>
            <a:ext cx="585216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CSV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retail_sales_2024.csv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x 11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72384" y="2980944"/>
            <a:ext cx="393192" cy="256032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1945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01BAE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3692" y="2395728"/>
            <a:ext cx="585216" cy="457200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distribué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+ réplication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07024" y="2980944"/>
            <a:ext cx="393192" cy="256032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21945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0B4F6C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8332" y="2395728"/>
            <a:ext cx="585216" cy="457200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/ PySpark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distribué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parallèle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41664" y="2980944"/>
            <a:ext cx="393192" cy="256032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219456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01BAE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62972" y="2395728"/>
            <a:ext cx="585216" cy="457200"/>
          </a:xfrm>
          <a:prstGeom prst="flowChartOnlineStorag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Parquet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graphiques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617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vrai cluster, ces 4 étapes s'exécutent sur des machines physiques séparées reliées par un réseau. Ici, elles sont simulées sur une seule machine avec 4 threads Spark représentant 4 workers.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générale retenue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0" y="14173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032F42"/>
          </a:solidFill>
          <a:ln/>
        </p:spPr>
      </p:sp>
      <p:sp>
        <p:nvSpPr>
          <p:cNvPr id="5" name="Text 3"/>
          <p:cNvSpPr/>
          <p:nvPr/>
        </p:nvSpPr>
        <p:spPr>
          <a:xfrm>
            <a:off x="41605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 •  ResourceManager  •  Spark Driver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51660" y="2468880"/>
            <a:ext cx="422910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03420" y="2468880"/>
            <a:ext cx="157734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080760" y="2468880"/>
            <a:ext cx="107442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080760" y="2468880"/>
            <a:ext cx="372618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729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(HDFS)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NodeManager (YARN)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31729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(HDFS)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NodeManager (YARN)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1729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(HDFS)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NodeManager (YARN)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4108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B4F6C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31729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5204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(HDFS)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NodeManager (YARN)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Worker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10287000" cy="502920"/>
          </a:xfrm>
          <a:prstGeom prst="roundRect">
            <a:avLst>
              <a:gd name="adj" fmla="val 14545"/>
            </a:avLst>
          </a:prstGeom>
          <a:solidFill>
            <a:srgbClr val="01BAE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10287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Données distribuées et répliquées sur les 4 workers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51660" y="4434840"/>
            <a:ext cx="9144" cy="27432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3420" y="4434840"/>
            <a:ext cx="9144" cy="27432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5180" y="4434840"/>
            <a:ext cx="9144" cy="27432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06940" y="4434840"/>
            <a:ext cx="9144" cy="27432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440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 Spark locaux (local[4]) jouent le rôle des 4 nœuds workers d'un cluster Hadoop réel.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Correspondance cours ↔ projet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 du cours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Équivalent dans le projet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Node (NameNode, ResourceManager, Spark Driver)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PySpark 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Nodes (DataNode, NodeManager, Spark Worker)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threads Spark (local[4])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HDFS (blocs, réplication)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hdfs_simulation/ : 4 partitions + 2 répliques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 distribué (MapReduce / Spark)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groupBy().agg() exécutés en parallèle sur les partitions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Résultats stockés sur HDFS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resultats/ (CSV + Parquet)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Faute d'un vrai cluster multi-machines, le comportement d'un cluster Hadoop/Spark est simulé sur une seule machine : le code et les concepts (partitionnement, parallélisme, réplication) restent identiques à un déploiement réel.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 et ingestion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fichier CSV dans un DataFrame Spark, comme s'il était déposé sur le cluster avant stockage sur HDFS.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128016" cy="128016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CSV avec inférence du schéma (spark.read.csv)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246120"/>
            <a:ext cx="128016" cy="128016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nombre de lignes et de colonnes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49040"/>
            <a:ext cx="128016" cy="128016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03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valeurs manquantes par colonne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251960"/>
            <a:ext cx="128016" cy="128016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schéma et des premières lignes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17373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0B4F6C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2011680"/>
            <a:ext cx="822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20116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17736" y="2697480"/>
            <a:ext cx="292608" cy="365760"/>
          </a:xfrm>
          <a:prstGeom prst="downArrow">
            <a:avLst/>
          </a:prstGeom>
          <a:solidFill>
            <a:srgbClr val="FFA6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Session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(local[4])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17736" y="3611880"/>
            <a:ext cx="292608" cy="320040"/>
          </a:xfrm>
          <a:prstGeom prst="downArrow">
            <a:avLst/>
          </a:prstGeom>
          <a:solidFill>
            <a:srgbClr val="FFA60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Spark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x 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du stockage distribué — Partitionnement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DataFrame (8 000 lignes) est reparti en 4 partitions, comme un fichier découpé en blocs HDFS répartis sur 4 DataNodes.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032F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23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retail_sales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_2024.csv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lignes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990088"/>
            <a:ext cx="502920" cy="329184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2860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88152" y="22860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01BAEF"/>
          </a:solidFill>
          <a:ln/>
        </p:spPr>
      </p:sp>
      <p:sp>
        <p:nvSpPr>
          <p:cNvPr id="16" name="Text 14"/>
          <p:cNvSpPr/>
          <p:nvPr/>
        </p:nvSpPr>
        <p:spPr>
          <a:xfrm>
            <a:off x="5788152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88152" y="29260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88152" y="3611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18704" y="22860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7918704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18704" y="29260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18704" y="3611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49256" y="2286000"/>
            <a:ext cx="1874520" cy="1737360"/>
          </a:xfrm>
          <a:prstGeom prst="roundRect">
            <a:avLst>
              <a:gd name="adj" fmla="val 4211"/>
            </a:avLst>
          </a:prstGeom>
          <a:solidFill>
            <a:srgbClr val="01BAE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49256" y="2468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49256" y="29260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49256" y="3611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EAF1F5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53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utilisé 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482803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df_partitioned = df.repartition(4)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df_partitioned.rdd.glom().map(len).collect()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(SUITE)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Réplication des blocs (tolérance aux pannes)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bloc de données est dupliqué 3 fois sur des dossiers distincts, reproduisant le facteur de réplication par défaut de HDFS.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23317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32F42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23317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3108960"/>
            <a:ext cx="356616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88720" y="3703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995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1 — Bloc original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3108960"/>
            <a:ext cx="18288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0" y="3703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995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2 — Réplique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108960"/>
            <a:ext cx="3200400" cy="59436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955280" y="3703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39959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3 — Réplique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07492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DEEDC"/>
          </a:solidFill>
          <a:ln w="12700">
            <a:solidFill>
              <a:srgbClr val="F0C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074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panne d'un nœud, les copies restantes garantissent la disponibilité des données — aucune interruption du service.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distribué avec PySpark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agrégation est exécutée en parallèle sur les 4 partitions, puis les résultats partiels sont combinés (principe Map / Reduce).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5603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5328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par catégorie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Somme, moyenne et nombre de commandes par catégorie de produit.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2331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2560320"/>
            <a:ext cx="384048" cy="384048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25328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par région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1089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total et nombre de commandes par région.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2331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9872" y="25603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8119872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41080" y="25328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Moyens de paiement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31089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paiements et note de satisfaction moyenne.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89120"/>
            <a:ext cx="384048" cy="384048"/>
          </a:xfrm>
          <a:prstGeom prst="ellipse">
            <a:avLst/>
          </a:prstGeom>
          <a:solidFill>
            <a:srgbClr val="01BAEF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3616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mensuelle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9377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agrégé mois par mois (traitement batch).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41605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B243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62272" y="43891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43616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Région x Canal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49377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du canal de vente (en ligne / magasin) par région.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groupBy("category").agg(F.sum(...), F.avg(...), F.count(...))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obtenus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pic>
        <p:nvPicPr>
          <p:cNvPr id="5" name="Image 0" descr="resultats_ca_par_catego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25780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41732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pic>
        <p:nvPicPr>
          <p:cNvPr id="7" name="Image 1" descr="resultats_ca_par_reg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257800" cy="3246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 et Meubles dominent le chiffre d'affaires ; Tunis et Sfax concentrent les ventes les plus fortes par région.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mensuelle &amp; sauvegarde des résultats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21792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pic>
        <p:nvPicPr>
          <p:cNvPr id="5" name="Image 0" descr="resultats_ca_mensu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603504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463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4 — Retour vers le stockage distribué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67728" y="2112264"/>
            <a:ext cx="109728" cy="109728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resultats/ca_par_categorie_csv/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67728" y="2532888"/>
            <a:ext cx="109728" cy="109728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247802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resultats/ca_par_categorie_parquet/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67728" y="2953512"/>
            <a:ext cx="109728" cy="109728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28986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resultats/ca_par_region_csv/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67728" y="3374136"/>
            <a:ext cx="109728" cy="109728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0" y="33192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resultats/ca_mensuel_csv/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67728" y="3794760"/>
            <a:ext cx="109728" cy="109728"/>
          </a:xfrm>
          <a:prstGeom prst="ellipse">
            <a:avLst/>
          </a:prstGeom>
          <a:solidFill>
            <a:srgbClr val="FFA600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373989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4F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resultats/canal_region_csv/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49440" y="429768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4434840"/>
            <a:ext cx="4251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sont écrits aux formats CSV et Parquet, comme le ferait une écriture vers HDFS sur un vrai cluster — prêts à être réutilisés par d'autres traitements ou outils de visualisation.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 avec les concepts du cours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Partitionnement (Sharding)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94760" y="1508760"/>
            <a:ext cx="7635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lignes réparties en 4 partitions traitées en parallèle, comme des blocs HDFS répartis sur plusieurs DataNodes.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01BAE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94760" y="2697480"/>
            <a:ext cx="7635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bloc dupliqué 3 fois — facteur de réplication par défaut de HDFS, assurant la tolérance aux pannes.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8620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886200"/>
            <a:ext cx="7635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forte simulée : toutes les répliques sont identiques dès l'écriture.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074920"/>
            <a:ext cx="3017520" cy="1051560"/>
          </a:xfrm>
          <a:prstGeom prst="roundRect">
            <a:avLst>
              <a:gd name="adj" fmla="val 6087"/>
            </a:avLst>
          </a:prstGeom>
          <a:solidFill>
            <a:srgbClr val="01BAE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749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distribué (Map/Reduce)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94760" y="5074920"/>
            <a:ext cx="7635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groupBy().agg() exécutés en parallèle sur les partitions puis combinés, comme un job MapReduce/Spark.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observés et limites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9F7EF"/>
          </a:solidFill>
          <a:ln w="12700">
            <a:solidFill>
              <a:srgbClr val="BFE6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95144"/>
            <a:ext cx="128016" cy="128016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402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rapide grâce au parallélisme, même en environnement simulé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209544"/>
            <a:ext cx="128016" cy="128016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546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: la disponibilité ne dépend pas d'un seul nœud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123944"/>
            <a:ext cx="128016" cy="128016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690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horizontale : local[4] → cluster réel (YARN) sans changer la logique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5038344"/>
            <a:ext cx="128016" cy="128016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8348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strictement identique à celui utilisé sur un vrai cluster Hadoop/Spark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DECEC"/>
          </a:solidFill>
          <a:ln w="12700">
            <a:solidFill>
              <a:srgbClr val="F4C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916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295144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2402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poste utilisé : pas de vrai réseau ni de vraies pannes matérielles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346704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2918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simulée par simple copie de fichiers, sans reprise sur panne automatique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398264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3434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réseau et cohérence distribuée réelle non testées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Big Data — Ventes retail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2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1B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Big Data complet, appliqué à un cas concret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a permis de mettre en pratique les notions du cours — architecture Master/Worker, stockage distribué HDFS (partitionnement, réplication, cohérence) et traitement distribué avec Spark/PySpark — sur un jeu de données réaliste de 8 000 ventes retail.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0F6C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CSV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99816" y="3904488"/>
            <a:ext cx="246888" cy="201168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36576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0F6C8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51576" y="3904488"/>
            <a:ext cx="246888" cy="201168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36576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0F6C8F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Spark/PySpark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03336" y="3904488"/>
            <a:ext cx="246888" cy="201168"/>
          </a:xfrm>
          <a:prstGeom prst="rightArrow">
            <a:avLst/>
          </a:prstGeom>
          <a:solidFill>
            <a:srgbClr val="FFA600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0" y="36576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0F6C8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3657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 retail_sales_2024.csv  •  projet_bigdata_retail.ipynb  •  rapport_projet.md  •  cette présentation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2026-09-26T08:11:49Z</dcterms:created>
  <dcterms:modified xsi:type="dcterms:W3CDTF">2026-09-26T08:11:49Z</dcterms:modified>
</cp:coreProperties>
</file>